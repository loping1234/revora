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Calibri (MS)" panose="020B0604020202020204" charset="0"/>
      <p:regular r:id="rId16"/>
    </p:embeddedFont>
    <p:embeddedFont>
      <p:font typeface="Calibri (MS) Bold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3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5279" y="8749913"/>
            <a:ext cx="114300" cy="114300"/>
            <a:chOff x="0" y="0"/>
            <a:chExt cx="152400" cy="15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5996" y="2990850"/>
            <a:ext cx="12381190" cy="57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Name: </a:t>
            </a:r>
            <a:r>
              <a:rPr lang="en-US" sz="315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PranayKumar</a:t>
            </a:r>
            <a:endParaRPr lang="en-US" sz="315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779"/>
              </a:lnSpc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Roll No.: 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A149	</a:t>
            </a: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SAP ID: 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70022200357</a:t>
            </a:r>
          </a:p>
          <a:p>
            <a:pPr algn="l">
              <a:lnSpc>
                <a:spcPts val="4350"/>
              </a:lnSpc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Job Description: 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Developer Intern</a:t>
            </a:r>
          </a:p>
          <a:p>
            <a:pPr algn="l">
              <a:lnSpc>
                <a:spcPts val="4350"/>
              </a:lnSpc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Duration: 05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ᵗʰ January 2026 – 30</a:t>
            </a:r>
            <a:r>
              <a:rPr lang="en-US" sz="315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April 2026</a:t>
            </a:r>
          </a:p>
          <a:p>
            <a:pPr algn="l">
              <a:lnSpc>
                <a:spcPts val="4350"/>
              </a:lnSpc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Company: </a:t>
            </a:r>
            <a:r>
              <a:rPr lang="en-US" sz="3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Biz Solutions</a:t>
            </a:r>
          </a:p>
          <a:p>
            <a:pPr algn="l">
              <a:lnSpc>
                <a:spcPts val="4350"/>
              </a:lnSpc>
            </a:pPr>
            <a:endParaRPr lang="en-US" sz="31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79"/>
              </a:lnSpc>
            </a:pPr>
            <a:r>
              <a:rPr lang="en-US" sz="3150" b="1" spc="-1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Mentors:</a:t>
            </a:r>
          </a:p>
          <a:p>
            <a:pPr algn="l">
              <a:lnSpc>
                <a:spcPts val="4350"/>
              </a:lnSpc>
            </a:pPr>
            <a:r>
              <a:rPr lang="en-US" sz="3150" b="1" spc="-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Industry Mentor: </a:t>
            </a:r>
            <a:r>
              <a:rPr lang="en-US" sz="3150" spc="-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Kanwar Pal(Founder)</a:t>
            </a:r>
          </a:p>
          <a:p>
            <a:pPr algn="l">
              <a:lnSpc>
                <a:spcPts val="4350"/>
              </a:lnSpc>
            </a:pPr>
            <a:r>
              <a:rPr lang="en-US" sz="3150" b="1" spc="-1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Client Project Mentor:</a:t>
            </a:r>
            <a:r>
              <a:rPr lang="en-US" sz="3150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Mrs. Renu Chaudhary(Technical Manager)</a:t>
            </a:r>
          </a:p>
          <a:p>
            <a:pPr algn="l">
              <a:lnSpc>
                <a:spcPts val="3779"/>
              </a:lnSpc>
            </a:pPr>
            <a:r>
              <a:rPr lang="en-US" sz="3150" b="1" spc="-1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 Mentor</a:t>
            </a:r>
            <a:r>
              <a:rPr lang="en-US" sz="3150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Dr. Preeti Agarwal</a:t>
            </a:r>
          </a:p>
          <a:p>
            <a:pPr algn="l">
              <a:lnSpc>
                <a:spcPts val="3779"/>
              </a:lnSpc>
            </a:pPr>
            <a:r>
              <a:rPr lang="en-US" sz="3150" b="1" spc="-1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Date: 29th</a:t>
            </a:r>
            <a:r>
              <a:rPr lang="en-US" sz="3150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March 2026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76140" y="3368313"/>
            <a:ext cx="6287898" cy="4276700"/>
            <a:chOff x="0" y="0"/>
            <a:chExt cx="10811459" cy="73533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11510" cy="7353427"/>
            </a:xfrm>
            <a:custGeom>
              <a:avLst/>
              <a:gdLst/>
              <a:ahLst/>
              <a:cxnLst/>
              <a:rect l="l" t="t" r="r" b="b"/>
              <a:pathLst>
                <a:path w="10811510" h="7353427">
                  <a:moveTo>
                    <a:pt x="0" y="0"/>
                  </a:moveTo>
                  <a:lnTo>
                    <a:pt x="10811510" y="0"/>
                  </a:lnTo>
                  <a:lnTo>
                    <a:pt x="10811510" y="7353427"/>
                  </a:lnTo>
                  <a:lnTo>
                    <a:pt x="0" y="735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811" t="-15242" r="-119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8801" y="1686382"/>
            <a:ext cx="13926966" cy="1187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8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Industry Internship Review–3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608671" y="5143500"/>
            <a:ext cx="5650629" cy="1356151"/>
          </a:xfrm>
          <a:custGeom>
            <a:avLst/>
            <a:gdLst/>
            <a:ahLst/>
            <a:cxnLst/>
            <a:rect l="l" t="t" r="r" b="b"/>
            <a:pathLst>
              <a:path w="5650629" h="1356151">
                <a:moveTo>
                  <a:pt x="0" y="0"/>
                </a:moveTo>
                <a:lnTo>
                  <a:pt x="5650629" y="0"/>
                </a:lnTo>
                <a:lnTo>
                  <a:pt x="5650629" y="1356151"/>
                </a:lnTo>
                <a:lnTo>
                  <a:pt x="0" y="1356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421276"/>
            <a:ext cx="11141326" cy="473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Internship at Delta The Innovators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Working on TV19 News platform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Role: MERN Stack Developer Intern</a:t>
            </a:r>
          </a:p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 of the Project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Optimize a real-time news aggregation engine to handle high-volume data from 20+ categories. 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Develop production-level proxy servers using Express.js and TypeScript for multi-source RSS feed parsing. 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Implement automated metadata enrichment and OG image scraping to ensure high-quality content delivery.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8577" y="1686382"/>
            <a:ext cx="943024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81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Internship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4049" y="3124657"/>
            <a:ext cx="1764580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Overview: Developed scalable, in-house full-stack platforms for Tech Biz Solution to replace third-party limitations with custom high-performance solutions.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4049" y="1409700"/>
            <a:ext cx="17917086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7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Projects 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472" y="4280797"/>
            <a:ext cx="8961120" cy="546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</a:t>
            </a:r>
            <a:r>
              <a:rPr lang="en-US" sz="2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TaskOps</a:t>
            </a: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Enterprise Management Hub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 Centralized organizational workflow tool replacing generic tracking apps.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Tech: MongoDB, Express, React, Node.js, Socket.io, AWS S3.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Deliverables:</a:t>
            </a:r>
          </a:p>
          <a:p>
            <a:pPr marL="1209039" lvl="2" indent="-403013" algn="l">
              <a:lnSpc>
                <a:spcPts val="335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3-Tier RBAC (Admin/Sub-Admin/Employee) for data security.</a:t>
            </a:r>
          </a:p>
          <a:p>
            <a:pPr marL="1209039" lvl="2" indent="-403013" algn="l">
              <a:lnSpc>
                <a:spcPts val="335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notifications and interactive Kanban Task Boards.</a:t>
            </a:r>
          </a:p>
          <a:p>
            <a:pPr marL="1209039" lvl="2" indent="-403013" algn="l">
              <a:lnSpc>
                <a:spcPts val="335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analytics dashboards for team performance tracking.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45744" y="4280797"/>
            <a:ext cx="7795074" cy="505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TV19 News: Live Aggregation Engine</a:t>
            </a:r>
          </a:p>
          <a:p>
            <a:pPr marL="604521" lvl="1" indent="-302261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 High-speed real-time news delivery system across 20+ categories.</a:t>
            </a:r>
          </a:p>
          <a:p>
            <a:pPr marL="604521" lvl="1" indent="-302261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Tech: TypeScript, React, Express RSS Proxy, Metadata Scraping.</a:t>
            </a:r>
          </a:p>
          <a:p>
            <a:pPr marL="604521" lvl="1" indent="-302261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Deliverables:</a:t>
            </a:r>
          </a:p>
          <a:p>
            <a:pPr marL="1209042" lvl="2" indent="-403014" algn="l">
              <a:lnSpc>
                <a:spcPts val="3360"/>
              </a:lnSpc>
              <a:spcBef>
                <a:spcPct val="0"/>
              </a:spcBef>
              <a:buFont typeface="Arial"/>
              <a:buChar char="⚬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data pipeline to normalize and deduplicate multi-source feeds.</a:t>
            </a:r>
          </a:p>
          <a:p>
            <a:pPr marL="1209042" lvl="2" indent="-403014" algn="l">
              <a:lnSpc>
                <a:spcPts val="3360"/>
              </a:lnSpc>
              <a:spcBef>
                <a:spcPct val="0"/>
              </a:spcBef>
              <a:buFont typeface="Arial"/>
              <a:buChar char="⚬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OG-image scraping for enriched content delivery.</a:t>
            </a:r>
          </a:p>
          <a:p>
            <a:pPr marL="1209042" lvl="2" indent="-403014" algn="l">
              <a:lnSpc>
                <a:spcPts val="3360"/>
              </a:lnSpc>
              <a:spcBef>
                <a:spcPct val="0"/>
              </a:spcBef>
              <a:buFont typeface="Arial"/>
              <a:buChar char="⚬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Localized state-specific news and sub-second search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DFEF-9637-0780-E09D-CFE51E6F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F15C6E-DAC5-6DE7-A223-773D2FB7FDBC}"/>
              </a:ext>
            </a:extLst>
          </p:cNvPr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50FF46-AC02-BAAD-8099-2B298110C7FC}"/>
                </a:ext>
              </a:extLst>
            </p:cNvPr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65BF552-7668-E051-F931-AF4E4F35389E}"/>
              </a:ext>
            </a:extLst>
          </p:cNvPr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74A872-9EF5-6231-BA73-9F9F6E36A2D8}"/>
                </a:ext>
              </a:extLst>
            </p:cNvPr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07A9CBC-C9E3-AF0B-03CB-EC23DA621A73}"/>
              </a:ext>
            </a:extLst>
          </p:cNvPr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B01FEEC-8C47-2468-77EB-5D6BBBE78FE5}"/>
              </a:ext>
            </a:extLst>
          </p:cNvPr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EF97D6D-3506-3DC3-A9BD-F5EB4355A589}"/>
                </a:ext>
              </a:extLst>
            </p:cNvPr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758685-F0CC-1FE7-51A8-3A273CCF941C}"/>
              </a:ext>
            </a:extLst>
          </p:cNvPr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C07E4BE-0856-023D-51D3-A3D5B6432F7D}"/>
              </a:ext>
            </a:extLst>
          </p:cNvPr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9ED7642-6B10-E2E1-BAEA-20DF8684E2E0}"/>
                </a:ext>
              </a:extLst>
            </p:cNvPr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4AFDFF8-713C-D79A-1F94-31F4A77AEFFB}"/>
              </a:ext>
            </a:extLst>
          </p:cNvPr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8B5E94C-125D-7535-7DA8-507265E61E02}"/>
              </a:ext>
            </a:extLst>
          </p:cNvPr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B024525-E41A-673E-6917-E475D4043216}"/>
              </a:ext>
            </a:extLst>
          </p:cNvPr>
          <p:cNvSpPr txBox="1"/>
          <p:nvPr/>
        </p:nvSpPr>
        <p:spPr>
          <a:xfrm>
            <a:off x="314049" y="1409700"/>
            <a:ext cx="17917086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7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 – “Revora”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726A32-EB9C-10B9-554D-36FDEB8BB791}"/>
              </a:ext>
            </a:extLst>
          </p:cNvPr>
          <p:cNvSpPr txBox="1"/>
          <p:nvPr/>
        </p:nvSpPr>
        <p:spPr>
          <a:xfrm>
            <a:off x="1066800" y="3416645"/>
            <a:ext cx="1564033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Optimization: Transform historical sales data into actionable price recommendations.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Use transparent statistical modeling (Linear, Log-Log, Ridge) to predict demand.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Growth: Maximize profit and revenue while minimizing risk through automated data fitness gates.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Stack: Node.js, Express, MongoDB, React 19, Vite.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 Regression-based elasticity models (Price Sensitivity).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Reporting: Automated Excel workbook generation via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ExcelJS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Deliveries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Simulator: Real-time "what-if" testing for price changes.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Engine: Automated search for optimal price points based on profit/revenue goals.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Dashboard: Portfolio-wide insights into sales trends and data quality.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Ingestion: CSV pipeline with automated feature engineering and stockout detection.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7AB189-F42C-D460-4BFB-896163E173E1}"/>
              </a:ext>
            </a:extLst>
          </p:cNvPr>
          <p:cNvSpPr txBox="1"/>
          <p:nvPr/>
        </p:nvSpPr>
        <p:spPr>
          <a:xfrm>
            <a:off x="762000" y="2729926"/>
            <a:ext cx="10578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Revora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Dynamic Pricing &amp; Demand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240561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8437" y="2019300"/>
            <a:ext cx="10081800" cy="7097896"/>
            <a:chOff x="-139365" y="0"/>
            <a:chExt cx="15839376" cy="64794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32089" cy="6479430"/>
            </a:xfrm>
            <a:custGeom>
              <a:avLst/>
              <a:gdLst/>
              <a:ahLst/>
              <a:cxnLst/>
              <a:rect l="l" t="t" r="r" b="b"/>
              <a:pathLst>
                <a:path w="10932089" h="6479430">
                  <a:moveTo>
                    <a:pt x="0" y="0"/>
                  </a:moveTo>
                  <a:lnTo>
                    <a:pt x="10932089" y="0"/>
                  </a:lnTo>
                  <a:lnTo>
                    <a:pt x="10932089" y="6479430"/>
                  </a:lnTo>
                  <a:lnTo>
                    <a:pt x="0" y="64794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684" r="-1089" b="271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39365" y="503970"/>
              <a:ext cx="15839376" cy="5821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endParaRPr lang="en-US" sz="32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2880"/>
                </a:lnSpc>
              </a:pPr>
              <a:endPara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88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</a:t>
              </a:r>
              <a:r>
                <a:rPr lang="en-US" sz="2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 Layer (Frontend)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 19 &amp; Vite: Modular dashboard for simulations, recommendations, and analytics.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Fixed-Frame UI: Premium, responsive layout built with Tailwind CSS 4.</a:t>
              </a:r>
            </a:p>
            <a:p>
              <a:pPr algn="l">
                <a:lnSpc>
                  <a:spcPts val="288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Application Layer (Backend Services)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Modeling Engine: Fits Linear, Log-Log, and Ridge regressions to find the best demand curve.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Trust Policy Layer: Enforces data quality gates (R-Squared, </a:t>
              </a:r>
              <a:r>
                <a:rPr lang="en-US" sz="24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Backtest</a:t>
              </a: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error) before providing insights.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Intelligence Pipeline: Automated seasonality detection, weekend indexing, and holiday adjustment.</a:t>
              </a:r>
            </a:p>
            <a:p>
              <a:pPr algn="l">
                <a:lnSpc>
                  <a:spcPts val="288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Data Ingestion &amp; Transformation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CSV Middleware: High-speed ingestion with automated data cleaning.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Stockout Detection: Intelligently identifies and excludes inventory-driven low sales to prevent model bias.</a:t>
              </a:r>
            </a:p>
            <a:p>
              <a:pPr algn="l">
                <a:lnSpc>
                  <a:spcPts val="288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Persistence Layer (Database)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MongoDB (Mongoose): Document storage for sales history, fitted models, and recommendations.</a:t>
              </a:r>
            </a:p>
            <a:p>
              <a:pPr marL="342900" indent="-342900" algn="l">
                <a:lnSpc>
                  <a:spcPts val="288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Performance Optimization: Models are fitted on "Grouped Demand Points" to handle large datasets efficiently.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0746" y="1181100"/>
            <a:ext cx="11470254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73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Revora Project Architecture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7568BEF-8677-587B-1865-B7FD0E2C0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331" y="1479375"/>
            <a:ext cx="8214402" cy="7977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5191" y="2789959"/>
            <a:ext cx="8707755" cy="6858503"/>
            <a:chOff x="0" y="-19050"/>
            <a:chExt cx="9992430" cy="78703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92430" cy="7851296"/>
            </a:xfrm>
            <a:custGeom>
              <a:avLst/>
              <a:gdLst/>
              <a:ahLst/>
              <a:cxnLst/>
              <a:rect l="l" t="t" r="r" b="b"/>
              <a:pathLst>
                <a:path w="9992430" h="7851296">
                  <a:moveTo>
                    <a:pt x="0" y="0"/>
                  </a:moveTo>
                  <a:lnTo>
                    <a:pt x="9992430" y="0"/>
                  </a:lnTo>
                  <a:lnTo>
                    <a:pt x="9992430" y="7851296"/>
                  </a:lnTo>
                  <a:lnTo>
                    <a:pt x="0" y="78512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595" r="-10595" b="398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9992424" cy="7870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Modeling Engine</a:t>
              </a:r>
              <a:r>
                <a:rPr lang="en-US" sz="2800" b="0" i="0" dirty="0">
                  <a:effectLst/>
                  <a:latin typeface="Segoe WPC"/>
                </a:rPr>
                <a:t>: Fits statistical regressions to identify price response patterns.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Price Simulator</a:t>
              </a:r>
              <a:r>
                <a:rPr lang="en-US" sz="2800" b="0" i="0" dirty="0">
                  <a:effectLst/>
                  <a:latin typeface="Segoe WPC"/>
                </a:rPr>
                <a:t>: Real-time sandbox for "what-if" testing of price changes.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Recommendation Engine</a:t>
              </a:r>
              <a:r>
                <a:rPr lang="en-US" sz="2800" b="0" i="0" dirty="0">
                  <a:effectLst/>
                  <a:latin typeface="Segoe WPC"/>
                </a:rPr>
                <a:t>: Goal-oriented optimizer for finding the "Best Price."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Data Ingestion</a:t>
              </a:r>
              <a:r>
                <a:rPr lang="en-US" sz="2800" b="0" i="0" dirty="0">
                  <a:effectLst/>
                  <a:latin typeface="Segoe WPC"/>
                </a:rPr>
                <a:t>: CSV pipeline with automated cleaning and stockout detection.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Intelligence Dashboard</a:t>
              </a:r>
              <a:r>
                <a:rPr lang="en-US" sz="2800" b="0" i="0" dirty="0">
                  <a:effectLst/>
                  <a:latin typeface="Segoe WPC"/>
                </a:rPr>
                <a:t>: Visual center for portfolio health and model readiness.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Trust Policy</a:t>
              </a:r>
              <a:r>
                <a:rPr lang="en-US" sz="2800" b="0" i="0" dirty="0">
                  <a:effectLst/>
                  <a:latin typeface="Segoe WPC"/>
                </a:rPr>
                <a:t>: Validation layer that blocks unreliable models to minimize risk.</a:t>
              </a:r>
            </a:p>
            <a:p>
              <a:pPr algn="l">
                <a:buFont typeface="+mj-lt"/>
                <a:buAutoNum type="arabicPeriod"/>
              </a:pPr>
              <a:r>
                <a:rPr lang="en-US" sz="2800" b="1" i="0" dirty="0">
                  <a:effectLst/>
                  <a:latin typeface="Segoe WPC"/>
                </a:rPr>
                <a:t>Reporting Module</a:t>
              </a:r>
              <a:r>
                <a:rPr lang="en-US" sz="2800" b="0" i="0" dirty="0">
                  <a:effectLst/>
                  <a:latin typeface="Segoe WPC"/>
                </a:rPr>
                <a:t>: Generates multi-sheet Excel workbooks for stakeholders.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4049" y="1662436"/>
            <a:ext cx="8550946" cy="1187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8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Modules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BAA673-8089-6193-160B-DFE7ABCD6E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083" y="952500"/>
            <a:ext cx="7755228" cy="9037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3" name="Freeform 13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44332" y="1686382"/>
            <a:ext cx="13199269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 Done (Timeline Feb – Present)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5560" y="2806044"/>
            <a:ext cx="6284750" cy="5643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/>
                <a:cs typeface="Times New Roman"/>
              </a:rPr>
              <a:t>Mar 12 – Mar 20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Elasticity research &amp; modeling requirements.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MongoDB schema for multi-batch data.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Initial Smart CSV Ingestion pipeline.</a:t>
            </a:r>
          </a:p>
          <a:p>
            <a:pPr>
              <a:lnSpc>
                <a:spcPts val="336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/>
                <a:cs typeface="Times New Roman"/>
              </a:rPr>
              <a:t>Mar 21 – Mar 29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Linear &amp; Log-Log regression engines.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Automated Stockout Detection logic.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Backend API for real-time model fitting.</a:t>
            </a:r>
          </a:p>
          <a:p>
            <a:pPr>
              <a:lnSpc>
                <a:spcPts val="3360"/>
              </a:lnSpc>
            </a:pPr>
            <a:r>
              <a:rPr lang="en-US" sz="3400" b="1" dirty="0">
                <a:solidFill>
                  <a:srgbClr val="000000"/>
                </a:solidFill>
                <a:latin typeface="Times New Roman"/>
                <a:cs typeface="Times New Roman"/>
              </a:rPr>
              <a:t>Mar 30 – Apr 7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Context-Adjusted Ridge Regression.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"Trust Policy" reliability framework.</a:t>
            </a:r>
          </a:p>
          <a:p>
            <a:pPr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Seasonality &amp; holiday feature engineering.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27238" y="2823277"/>
            <a:ext cx="4350362" cy="6217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/>
                <a:cs typeface="Times New Roman"/>
              </a:rPr>
              <a:t>Apr 8 – Apr 18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Interactive Simulator with real-time UI.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Multi-Objective optimization engine.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UI overhaul with Tailwind CSS 4.</a:t>
            </a:r>
          </a:p>
          <a:p>
            <a:r>
              <a:rPr lang="en-US" sz="3400" b="1" dirty="0">
                <a:solidFill>
                  <a:srgbClr val="000000"/>
                </a:solidFill>
                <a:latin typeface="Times New Roman"/>
                <a:cs typeface="Times New Roman"/>
              </a:rPr>
              <a:t>Apr 19 – Present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Automated Excel reporting (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ExcelJS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Portfolio-wide Intelligence Dashboard.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Performance auditing &amp; DB optimization.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82400" y="2705557"/>
            <a:ext cx="6172200" cy="6989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Multi-Model Engine: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Advanced regressions (Linear, Log-Log, Ridge) for forecasting.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Smart Ingestion: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CSV pipeline with automated cleaning and stockout detection.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Trust Policy: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Risk-mitigation layer for data and model validation.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Price Simulator: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Real-time "what-if" sandbox for elasticity visualization.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BI Reporting: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Automated stakeholder-ready Excel workbooks via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ExcelJS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Modern UI: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Premium dashboard built with React 19 and Tailwind 4.</a:t>
            </a:r>
          </a:p>
          <a:p>
            <a:r>
              <a:rPr lang="en-US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DB Optimization: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Optimized MongoDB pipelines for high-speed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159413"/>
            <a:ext cx="18288000" cy="127635"/>
            <a:chOff x="0" y="0"/>
            <a:chExt cx="24384000" cy="1701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70053"/>
            </a:xfrm>
            <a:custGeom>
              <a:avLst/>
              <a:gdLst/>
              <a:ahLst/>
              <a:cxnLst/>
              <a:rect l="l" t="t" r="r" b="b"/>
              <a:pathLst>
                <a:path w="24384000" h="170053">
                  <a:moveTo>
                    <a:pt x="24384000" y="170053"/>
                  </a:moveTo>
                  <a:lnTo>
                    <a:pt x="0" y="170053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7005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10149907"/>
            <a:ext cx="18288000" cy="137160"/>
            <a:chOff x="0" y="0"/>
            <a:chExt cx="24384000" cy="182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82880"/>
            </a:xfrm>
            <a:custGeom>
              <a:avLst/>
              <a:gdLst/>
              <a:ahLst/>
              <a:cxnLst/>
              <a:rect l="l" t="t" r="r" b="b"/>
              <a:pathLst>
                <a:path w="24384000" h="182880">
                  <a:moveTo>
                    <a:pt x="24384000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0" y="182880"/>
                  </a:lnTo>
                  <a:lnTo>
                    <a:pt x="12700" y="182880"/>
                  </a:lnTo>
                  <a:lnTo>
                    <a:pt x="24384000" y="182753"/>
                  </a:lnTo>
                  <a:lnTo>
                    <a:pt x="24384000" y="170053"/>
                  </a:lnTo>
                  <a:lnTo>
                    <a:pt x="12700" y="170053"/>
                  </a:lnTo>
                  <a:lnTo>
                    <a:pt x="12700" y="25400"/>
                  </a:lnTo>
                  <a:lnTo>
                    <a:pt x="24384000" y="25400"/>
                  </a:lnTo>
                  <a:lnTo>
                    <a:pt x="24384000" y="13589"/>
                  </a:lnTo>
                  <a:lnTo>
                    <a:pt x="24384000" y="127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4" name="Freeform 14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416008" y="593588"/>
            <a:ext cx="6821167" cy="94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 Engineering | Navi Mumbai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472" y="6482548"/>
            <a:ext cx="9346084" cy="2738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Services &amp; Tools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Sources: Multi-source XML/RSS endpoints (BBC, TOI, Google News)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Metadata: Custom Open Graph (OG) tag scraping logic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Testing: Postman (API verification &amp; performance monitoring)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Control: Git &amp; GitHub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6472" y="2390594"/>
            <a:ext cx="15238570" cy="3662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Environment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Library: React.js (v19)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Language: TypeScript (for type-safe development)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Tool: Vite (high-performance modular bundling)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Routing: React Router DOM (v7)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Animations: Framer Motion (smooth UI/UX transitions)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Icons/UI: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FontAwesome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Iconscout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Unicons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36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Styling: Tailwind CSS 4,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Lucide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72556" y="1671961"/>
            <a:ext cx="7810128" cy="7355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Infrastructure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Runtime: Node.js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 Express.js (v5)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Language: JavaScript (ESM)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Processing: RSS-Parser (Normalization &amp; Deduplication)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Communication: Axios (Parallel external API fetching)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CORS (Middleware for restricted origin access)</a:t>
            </a:r>
            <a:b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MongoDB</a:t>
            </a:r>
          </a:p>
          <a:p>
            <a:pPr>
              <a:lnSpc>
                <a:spcPts val="36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Data Processing: csv-parse (For streaming and cleaning large sales datasets)</a:t>
            </a:r>
          </a:p>
          <a:p>
            <a:pPr>
              <a:lnSpc>
                <a:spcPts val="36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Business Intelligence: 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ExcelJS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(For generating the stakeholder workbooks)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3037" y="1686679"/>
            <a:ext cx="5764530" cy="43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Stack: TV19 News 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3" name="Freeform 13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26472" y="1266687"/>
            <a:ext cx="8031728" cy="2194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70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Learning &amp; Skill Development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4535" y="3238500"/>
            <a:ext cx="8514665" cy="7322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 spc="-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Skills Developed</a:t>
            </a:r>
          </a:p>
          <a:p>
            <a:pPr>
              <a:lnSpc>
                <a:spcPts val="4079"/>
              </a:lnSpc>
              <a:buFont typeface="+mj-lt"/>
              <a:buAutoNum type="arabicPeriod"/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cs typeface="Times New Roman"/>
              </a:rPr>
              <a:t>Full-Stack Architecture: Engineering high-performance applications using React 19, Node.js, and MongoDB.</a:t>
            </a:r>
          </a:p>
          <a:p>
            <a:pPr>
              <a:lnSpc>
                <a:spcPts val="4079"/>
              </a:lnSpc>
              <a:buFont typeface="+mj-lt"/>
              <a:buAutoNum type="arabicPeriod"/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cs typeface="Times New Roman"/>
              </a:rPr>
              <a:t>Statistical Modeling: Implementing Linear, Log-Log, and Ridge regression for predictive demand forecasting.</a:t>
            </a:r>
          </a:p>
          <a:p>
            <a:pPr>
              <a:lnSpc>
                <a:spcPts val="4079"/>
              </a:lnSpc>
              <a:buFont typeface="+mj-lt"/>
              <a:buAutoNum type="arabicPeriod"/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cs typeface="Times New Roman"/>
              </a:rPr>
              <a:t>Advanced Data Engineering: Designing robust pipelines for CSV ingestion, stockout detection, and automated feature extraction.</a:t>
            </a:r>
          </a:p>
          <a:p>
            <a:pPr>
              <a:lnSpc>
                <a:spcPts val="4079"/>
              </a:lnSpc>
              <a:buFont typeface="+mj-lt"/>
              <a:buAutoNum type="arabicPeriod"/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cs typeface="Times New Roman"/>
              </a:rPr>
              <a:t>Business Intelligence: Developing automated reporting frameworks and optimization algorithms for data-driven decision making.</a:t>
            </a:r>
          </a:p>
          <a:p>
            <a:pPr algn="l">
              <a:lnSpc>
                <a:spcPts val="3840"/>
              </a:lnSpc>
            </a:pPr>
            <a:endParaRPr lang="en-US" sz="3399" spc="-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96293" y="809487"/>
            <a:ext cx="9363604" cy="2119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70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Teamwork &amp; Professional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4395" y="3399384"/>
            <a:ext cx="8365144" cy="6280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Contribution to ongoing company </a:t>
            </a:r>
            <a:r>
              <a:rPr lang="en-US" sz="3399" b="1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NewsTV19 </a:t>
            </a: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ongoing </a:t>
            </a:r>
            <a:r>
              <a:rPr lang="en-US" sz="3399" b="1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Revora</a:t>
            </a: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project.</a:t>
            </a:r>
          </a:p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Regular technical syncs with mentors and developers </a:t>
            </a:r>
          </a:p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Participation in planning and feature-mapping meetings </a:t>
            </a:r>
          </a:p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Collaborative debugging and cross-team code reviews </a:t>
            </a:r>
          </a:p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Adaptation and contribution to an active codebase </a:t>
            </a:r>
          </a:p>
          <a:p>
            <a:pPr algn="l">
              <a:lnSpc>
                <a:spcPts val="4079"/>
              </a:lnSpc>
            </a:pPr>
            <a:r>
              <a:rPr lang="en-US" sz="3399" spc="-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Exposure to professional industry git-workflow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6472" y="1719062"/>
            <a:ext cx="1118245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81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Progress vs 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7654" y="3109562"/>
            <a:ext cx="6819205" cy="565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Progress Snapshot</a:t>
            </a:r>
          </a:p>
          <a:p>
            <a:pPr algn="l">
              <a:lnSpc>
                <a:spcPts val="3547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>
              <a:lnSpc>
                <a:spcPts val="4093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Complete core Demand Intelligence &amp; Pricing Architecture by mid-April.</a:t>
            </a:r>
          </a:p>
          <a:p>
            <a:pPr>
              <a:lnSpc>
                <a:spcPts val="4093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Actual: Successfully implemented Multi-Model Regression Engine, Smart Data Ingestion, and Trust Policy validation ahead of schedule.</a:t>
            </a:r>
          </a:p>
          <a:p>
            <a:pPr>
              <a:lnSpc>
                <a:spcPts val="4093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Milestone: Finalization of the Interactive Price Simulator and Automated Business Reporting (Expected by end of week).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2C1ADD-04B5-BF34-78E3-9C7D312B7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828700"/>
            <a:ext cx="7839074" cy="71626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0" name="Freeform 10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9980" y="1700536"/>
            <a:ext cx="14948040" cy="8483013"/>
          </a:xfrm>
          <a:custGeom>
            <a:avLst/>
            <a:gdLst/>
            <a:ahLst/>
            <a:cxnLst/>
            <a:rect l="l" t="t" r="r" b="b"/>
            <a:pathLst>
              <a:path w="14948040" h="8483013">
                <a:moveTo>
                  <a:pt x="0" y="0"/>
                </a:moveTo>
                <a:lnTo>
                  <a:pt x="14948040" y="0"/>
                </a:lnTo>
                <a:lnTo>
                  <a:pt x="14948040" y="8483013"/>
                </a:lnTo>
                <a:lnTo>
                  <a:pt x="0" y="8483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9492"/>
            <a:chOff x="0" y="0"/>
            <a:chExt cx="24384000" cy="1385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85316"/>
            </a:xfrm>
            <a:custGeom>
              <a:avLst/>
              <a:gdLst/>
              <a:ahLst/>
              <a:cxnLst/>
              <a:rect l="l" t="t" r="r" b="b"/>
              <a:pathLst>
                <a:path w="24384000" h="1385316">
                  <a:moveTo>
                    <a:pt x="24384000" y="1385316"/>
                  </a:moveTo>
                  <a:lnTo>
                    <a:pt x="0" y="1385316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8531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19"/>
            <a:ext cx="18288000" cy="1047750"/>
            <a:chOff x="0" y="0"/>
            <a:chExt cx="24384000" cy="139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000"/>
            </a:xfrm>
            <a:custGeom>
              <a:avLst/>
              <a:gdLst/>
              <a:ahLst/>
              <a:cxnLst/>
              <a:rect l="l" t="t" r="r" b="b"/>
              <a:pathLst>
                <a:path w="24384000" h="1397000">
                  <a:moveTo>
                    <a:pt x="24384000" y="1372108"/>
                  </a:moveTo>
                  <a:lnTo>
                    <a:pt x="12700" y="1372108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385189"/>
                  </a:lnTo>
                  <a:lnTo>
                    <a:pt x="0" y="1397000"/>
                  </a:lnTo>
                  <a:lnTo>
                    <a:pt x="24384000" y="1397000"/>
                  </a:lnTo>
                  <a:lnTo>
                    <a:pt x="24384000" y="1385189"/>
                  </a:lnTo>
                  <a:lnTo>
                    <a:pt x="12700" y="1385189"/>
                  </a:lnTo>
                  <a:lnTo>
                    <a:pt x="12700" y="1384808"/>
                  </a:lnTo>
                  <a:lnTo>
                    <a:pt x="24384000" y="1384808"/>
                  </a:lnTo>
                  <a:lnTo>
                    <a:pt x="24384000" y="1372108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314049" y="440807"/>
            <a:ext cx="10116188" cy="1287780"/>
          </a:xfrm>
          <a:custGeom>
            <a:avLst/>
            <a:gdLst/>
            <a:ahLst/>
            <a:cxnLst/>
            <a:rect l="l" t="t" r="r" b="b"/>
            <a:pathLst>
              <a:path w="10116188" h="1287780">
                <a:moveTo>
                  <a:pt x="0" y="0"/>
                </a:moveTo>
                <a:lnTo>
                  <a:pt x="10116188" y="0"/>
                </a:lnTo>
                <a:lnTo>
                  <a:pt x="10116188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26472" y="521246"/>
            <a:ext cx="2922937" cy="1179290"/>
            <a:chOff x="0" y="0"/>
            <a:chExt cx="3897249" cy="1572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7249" cy="1572387"/>
            </a:xfrm>
            <a:custGeom>
              <a:avLst/>
              <a:gdLst/>
              <a:ahLst/>
              <a:cxnLst/>
              <a:rect l="l" t="t" r="r" b="b"/>
              <a:pathLst>
                <a:path w="3897249" h="1572387">
                  <a:moveTo>
                    <a:pt x="0" y="0"/>
                  </a:moveTo>
                  <a:lnTo>
                    <a:pt x="3897249" y="0"/>
                  </a:lnTo>
                  <a:lnTo>
                    <a:pt x="3897249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18" b="-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0149907"/>
            <a:ext cx="18288000" cy="137160"/>
          </a:xfrm>
          <a:custGeom>
            <a:avLst/>
            <a:gdLst/>
            <a:ahLst/>
            <a:cxnLst/>
            <a:rect l="l" t="t" r="r" b="b"/>
            <a:pathLst>
              <a:path w="18288000" h="137160">
                <a:moveTo>
                  <a:pt x="0" y="0"/>
                </a:moveTo>
                <a:lnTo>
                  <a:pt x="18288000" y="0"/>
                </a:lnTo>
                <a:lnTo>
                  <a:pt x="1828800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39960" y="479288"/>
            <a:ext cx="19050" cy="1231268"/>
            <a:chOff x="0" y="0"/>
            <a:chExt cx="25400" cy="1641691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25273" cy="1628521"/>
            </a:xfrm>
            <a:custGeom>
              <a:avLst/>
              <a:gdLst/>
              <a:ahLst/>
              <a:cxnLst/>
              <a:rect l="l" t="t" r="r" b="b"/>
              <a:pathLst>
                <a:path w="25273" h="1628521">
                  <a:moveTo>
                    <a:pt x="12700" y="0"/>
                  </a:moveTo>
                  <a:lnTo>
                    <a:pt x="25273" y="1628394"/>
                  </a:lnTo>
                  <a:lnTo>
                    <a:pt x="12573" y="1628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3930" y="3043037"/>
            <a:ext cx="7887928" cy="6001867"/>
            <a:chOff x="0" y="0"/>
            <a:chExt cx="9051652" cy="68873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51658" cy="6887330"/>
            </a:xfrm>
            <a:custGeom>
              <a:avLst/>
              <a:gdLst/>
              <a:ahLst/>
              <a:cxnLst/>
              <a:rect l="l" t="t" r="r" b="b"/>
              <a:pathLst>
                <a:path w="9051658" h="6887330">
                  <a:moveTo>
                    <a:pt x="0" y="0"/>
                  </a:moveTo>
                  <a:lnTo>
                    <a:pt x="9051658" y="0"/>
                  </a:lnTo>
                  <a:lnTo>
                    <a:pt x="9051658" y="6887330"/>
                  </a:lnTo>
                  <a:lnTo>
                    <a:pt x="0" y="6887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696" r="-22090" b="314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051652" cy="69159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39"/>
                </a:lnSpc>
              </a:pPr>
              <a:r>
                <a:rPr lang="en-US" sz="31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Gained exposure to real-world software architecture</a:t>
              </a:r>
            </a:p>
            <a:p>
              <a:pPr algn="l">
                <a:lnSpc>
                  <a:spcPts val="3839"/>
                </a:lnSpc>
              </a:pPr>
              <a:r>
                <a:rPr lang="en-US" sz="31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Contributed to production-level backend APIs</a:t>
              </a:r>
            </a:p>
            <a:p>
              <a:pPr algn="l">
                <a:lnSpc>
                  <a:spcPts val="3839"/>
                </a:lnSpc>
              </a:pPr>
              <a:r>
                <a:rPr lang="en-US" sz="31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Improved backend development and debugging skills</a:t>
              </a:r>
            </a:p>
            <a:p>
              <a:pPr algn="l">
                <a:lnSpc>
                  <a:spcPts val="3839"/>
                </a:lnSpc>
              </a:pPr>
              <a:r>
                <a:rPr lang="en-US" sz="31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Working towards full system integration</a:t>
              </a:r>
            </a:p>
            <a:p>
              <a:pPr algn="l">
                <a:lnSpc>
                  <a:spcPts val="3839"/>
                </a:lnSpc>
              </a:pPr>
              <a:endPara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502742" y="2685930"/>
            <a:ext cx="9785258" cy="6716081"/>
          </a:xfrm>
          <a:custGeom>
            <a:avLst/>
            <a:gdLst/>
            <a:ahLst/>
            <a:cxnLst/>
            <a:rect l="l" t="t" r="r" b="b"/>
            <a:pathLst>
              <a:path w="9785258" h="6716081">
                <a:moveTo>
                  <a:pt x="0" y="0"/>
                </a:moveTo>
                <a:lnTo>
                  <a:pt x="9785258" y="0"/>
                </a:lnTo>
                <a:lnTo>
                  <a:pt x="9785258" y="6716082"/>
                </a:lnTo>
                <a:lnTo>
                  <a:pt x="0" y="6716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416008" y="593588"/>
            <a:ext cx="6821167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School of Technology Management &amp;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6008" y="1050788"/>
            <a:ext cx="4895850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606061"/>
                </a:solidFill>
                <a:latin typeface="Arial Bold"/>
                <a:ea typeface="Arial Bold"/>
                <a:cs typeface="Arial Bold"/>
                <a:sym typeface="Arial Bold"/>
              </a:rPr>
              <a:t>Engineering | Navi Mumbai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1362" y="2385812"/>
            <a:ext cx="5205611" cy="118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8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1423</Words>
  <Application>Microsoft Office PowerPoint</Application>
  <PresentationFormat>Custom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Times New Roman Bold</vt:lpstr>
      <vt:lpstr>Arial</vt:lpstr>
      <vt:lpstr>Courier New</vt:lpstr>
      <vt:lpstr>Calibri (MS) Bold</vt:lpstr>
      <vt:lpstr>Segoe WPC</vt:lpstr>
      <vt:lpstr>Times New Roman</vt:lpstr>
      <vt:lpstr>Arial Bold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Internship Review 2 PPT.pptx</dc:title>
  <dc:creator>PRANAY</dc:creator>
  <cp:lastModifiedBy>Pranay .</cp:lastModifiedBy>
  <cp:revision>2</cp:revision>
  <dcterms:created xsi:type="dcterms:W3CDTF">2006-08-16T00:00:00Z</dcterms:created>
  <dcterms:modified xsi:type="dcterms:W3CDTF">2026-04-29T06:24:09Z</dcterms:modified>
  <dc:identifier>DAHDecbjnO4</dc:identifier>
</cp:coreProperties>
</file>